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64" r:id="rId11"/>
    <p:sldId id="265" r:id="rId12"/>
    <p:sldId id="266" r:id="rId13"/>
    <p:sldId id="267" r:id="rId14"/>
    <p:sldId id="271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3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0795-DD01-D445-514D-0AD21F61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679FF-FA65-BDD5-5F4B-CD808FF35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53723-50E0-3C1F-ADA7-B3F483A56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CE0DB-D20A-068D-B4EB-A8C97FFC6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75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Georgia" panose="02040502050405020303" pitchFamily="18" charset="0"/>
                <a:ea typeface="Georgia" pitchFamily="34" charset="-122"/>
                <a:cs typeface="Calibri" panose="020F0502020204030204" pitchFamily="34" charset="0"/>
              </a:rPr>
              <a:t>scPerturbEval</a:t>
            </a:r>
            <a:endParaRPr lang="en-US" sz="5400" dirty="0"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 reproducible evaluation framework for single-cell perturbation prediction models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1371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Deep Learning in Genomics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9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Nainika Gupta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perturbation prediction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cells respond to a gene knockout or drug —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running every experiment.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scRNA-seq destroys the cell, so direct before/after measurement is impossible. Exhaustive screening across all genes × drugs × cell types is infeasible.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field evolved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scVI · scGen · CPA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priors &amp; 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GEARS · CellOT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&amp; foundation models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scDFM · transformer-based scFMs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gotten more sophisticated. But how do we know they actually work?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development outpaced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papers used different preprocessing, splits, normalization, DEG definitions, representation spaces, and metrics.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Incomparable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 under incompatible conditions - claimed gains hard to interpret.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ea typeface="Georgia" pitchFamily="34" charset="-122"/>
                <a:cs typeface="Georgia" pitchFamily="34" charset="-120"/>
              </a:rPr>
              <a:t>Self-flattering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7889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often look strong only on the metrics chosen by their own papers.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Beaten by baselines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foundation models frequently fail to outperform simple linear or additive predictors.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mode collapse - models predicting population averages while still scoring well.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 emerged to standardize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benchmarking studies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scPerturBench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PerturBench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PertEval-scFM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systematic comparisons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libraries (cell-eval, GGE) with implementation choices  (PCA dims, DEG thresholds, computation space) as configurable parameters.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dominates across datasets.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heavily on perturbation strength and dataset characteristics.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baselines are unexpectedly competitive.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methods fail under true distribution shift or unseen cell-type transfer.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…but benchmarking revealed the metrics themselves are flawed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Mejia et al. · Miller et al. · Viñas Torné et 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/ MAE dilute biological signal.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genes don't change strongly -- predicting near-control averages still gets low reconstruction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4A4A4A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Pearson(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ignores scale.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direction, wrong magnitude - still high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4A4A4A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Control-based metrics introduce bias.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control-vs-perturbed shifts dominate, rewarding mean baselines.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4A4A4A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metrics fail to detect mode collapse.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one average response for all perturbations can still score well.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547872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aren't just reporting tools,  they shape which models look successful.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in one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PerturBench · Srivatsan20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DecoderOnly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ignores perturbation entirely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0000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0.026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CPA*(</a:t>
            </a:r>
            <a:r>
              <a:rPr lang="en-US" sz="1000" i="1" dirty="0" err="1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noAdv</a:t>
            </a:r>
            <a:r>
              <a:rPr lang="en-US" sz="1000" i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uses the perturbation label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0.021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RMSE, these look comparable. They aren't.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mean rank: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0.488 </a:t>
            </a: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(near-random 0.5)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 0.098 </a:t>
            </a: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real model)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“Judging by the RMSE alone, it is impossible to tell which model suffers from mode collapse.”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can rank trivial above ideal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Mejia et al. · Replogle22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duplicate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half the cells of a perturbation to predict the other half. This is effectively the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of what any model could achieve.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 the average of all perturbations. Ignores the specific perturbation entirely.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standard MSE and R²(Δ)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 beats the technical duplicate.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78638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Weighted MSE / Weighted R²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flips — the technical duplicate wins.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baseline wins on standard metrics because it has less sampling noise — but it has no biological signal.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the same metric tells different stories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GGE · Norman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920240" cy="192024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 = 2000)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104.3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96896" y="14173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96896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PCA-100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96896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ea typeface="Georgia" pitchFamily="34" charset="-122"/>
                <a:cs typeface="Georgia" pitchFamily="34" charset="-120"/>
              </a:rPr>
              <a:t>53.8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4626864" y="14173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33.6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56832" y="14173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56832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17.2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 (Wasserstein-2) on the same predictions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an order of magnitude difference - from one configuration choice.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5989-7353-9AB7-9E83-B63C00B0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E3C73D-9939-559B-0F40-F9DC513B4CB7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that remains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E790F-80B5-A3C4-9843-E423E69D18B3}"/>
              </a:ext>
            </a:extLst>
          </p:cNvPr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evaluation pipelines (cell-eval, GGE) still fall short.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3AC6CD-FD93-78F3-68C4-13B50BE5204E}"/>
              </a:ext>
            </a:extLst>
          </p:cNvPr>
          <p:cNvSpPr/>
          <p:nvPr/>
        </p:nvSpPr>
        <p:spPr>
          <a:xfrm>
            <a:off x="6858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to specific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metric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newer metrics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02761F-A903-8D63-0BB0-D8D4F8011BC3}"/>
              </a:ext>
            </a:extLst>
          </p:cNvPr>
          <p:cNvSpPr/>
          <p:nvPr/>
        </p:nvSpPr>
        <p:spPr>
          <a:xfrm>
            <a:off x="68580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C626CC-3A31-117C-71C5-16F2A285039D}"/>
              </a:ext>
            </a:extLst>
          </p:cNvPr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F9CC69-260C-45F8-6F56-F4538A1A90A7}"/>
              </a:ext>
            </a:extLst>
          </p:cNvPr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lightweight, extensible, transparent tool for evaluating perturbation models.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BE6068-15A2-FAB1-7FDC-7C5E2EEF110C}"/>
              </a:ext>
            </a:extLst>
          </p:cNvPr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2672C97-5E95-4AD1-6E95-9CA76AA5C7C5}"/>
              </a:ext>
            </a:extLst>
          </p:cNvPr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5436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scPerturbEval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CLI for reproducible, configurable evaluation of perturbation prediction models.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21945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splits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(additive · combinations · unseen)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04288" y="2103120"/>
            <a:ext cx="146304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68880" y="150876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42032" y="21945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global delta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1-layer MLP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103120"/>
            <a:ext cx="146304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21945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metrics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PCA · DEG space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27648" y="2103120"/>
            <a:ext cx="146304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150876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219456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+ summary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7955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space :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metric in raw, PCA, or DEG-restricted space, and report which.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904488"/>
            <a:ext cx="7955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Calibration-aware metrics :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WMSE, weighted R²(Δ), PDS, designed to penalize mode collapse.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88536"/>
            <a:ext cx="7955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CLI-first, model-agnostic  :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paired real/pred .h5ad files. No coupling to any specific predictor.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metrics,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one from each row for a well-rounded view.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2316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error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4630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Pearson dist · WMSE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Reference-free; WMSE prioritizes DEGs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06654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· MMD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0665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full cell populations, not just means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Delta-based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26700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pcc_delta · pearson_delta_pert · weighted_R²(Δ)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6700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perturbation effect; weighted_R²(Δ) is strict on collapse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specificity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23160" y="32735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pds_cosine · matrix_distance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27355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identify a perturbation from its predicted signature?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DEG-based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23160" y="387705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top_DEG_recall · direction_agreement · spearman_lfc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8770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to genes that actually changed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scDFM on Norman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Flow-matching model · 2 folds as a stability check (full benchmarking is future work)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weighted_R²(Δ)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59105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pearson_delta_pert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49424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pds_cosine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2494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42032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57860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pcc_delta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57860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907792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direction_agreement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90779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23697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top_DEG_recall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23697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529584"/>
            <a:ext cx="41148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56616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spearman_lfc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56616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global and Δ-level agreement.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calibration-aware metrics (weighted_R²(Δ), pds_cosine) confirm the model isn't mode-collapsed.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folds.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Per-metric variation is small between fold 0 and fold 1.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 worth flagging.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agreement is 0.99 and weighted_R²(Δ) is 0.87, but Spearman LFC is near zero : suggesting the model captures coarse direction and DEG-weighted magnitude but not fine-grained effect-size ordering.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where this goes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perturbations only, no chemical screens yet.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(Norman) and 2 folds, full 5-fold benchmarking pending.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defined but not yet run alongside scDFM.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cellular-context generalization tested.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baselines through the framework to demonstrate metric discrimination.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chemical perturbation datasets.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multiple models (VAEs, OT-based, foundation models) under one configuration.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GPU/MPS acceleration for distributional metrics on large datasets.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evaluation enables more reliable interpretation of model progress.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Metric definitions (1/3)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error · distributional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417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√[ (1/G) Σ (μ_real − μ_pred)²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Reference-free; penalizes magnitude errors; interpretable units; never NaN. Dilutes sparse DEG signal.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pearson_distance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corr(μ_real, μ_pred)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shape check; bounded in [0, 2]. Insensitive to amplitude errors.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w_g · (μ_real_g − μ_pred_g)²,   Σ w_g 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697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Reweights MSE by per-perturbation DEG t-scores. Penalizes mode collapse; usable as training loss; no top-K cutoff.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wasserstein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(1/G) Σ W₁(X_real[:,g], X_pred[:,g])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 optimal-transport distance between full single-cell distributions. Captures variance, skewness, bimodality.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251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E[k(X,X′)] + E[k(Y,Y′)] − 2·E[k(X,Y)]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4251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multivariate distributional distance (RBF kernel, median heuristic σ). Captures gene–gene covariance.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93776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 · appendix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/ A3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Metric definitions (2/3)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Delta-based · rank / specificity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pcc_delta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417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corr( μ_cond − μ_ctrl,  μ̂_cond − μ̂_ctrl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on control-referenced deltas. Intuitive direction check. Susceptible to control bias; widely used in literature.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pearson_delta_pert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194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corr( μ_cond − μ_all,  μ̂_cond − μ̂_all 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the mean of all perturbed cells, not control. Strips out systematic control-vs-perturbed shift. Strongly penalizes mode collapse.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weighted_R²(Δ)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Σ w_g(Δ_real − Δ_pred)² / Σ w_g(Δ_real − Δ̄_w)²,   Δ = μ_cond − μ_all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063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DEG weighting + perturbed-centroid reference + R² formulation. Strictly ≤ 0 for any constant prediction. Penalizes amplitude AND direction errors.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pds_cosine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Σ_i [1 − rank_i / (N−1)],   rank by cosine dist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4069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is the predicted effect closer to its true target than to any other perturbation's effect? Chance = 0.5; perfect = 1.0. Mode collapse → 0.5.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 · appendix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/ A3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Metric definitions (3/3)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DEG-based · pathway-level · matrix-level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top_DEG_recall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|T_real ∩ T_pred| / K_eff,   T = top-K by |Δ|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model find the right top-K responding genes? Robust to magnitude errors.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direction_agreement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(1/G) Σ 𝟙[ sign(Δ_real) = sign(Δ_pred)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basic biological accuracy check. Stable for weak perturbations. Chance = 0.5.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deg_spearman_lfc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Spearman( Δ_real, Δ_pred 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of log-fold changes. Robust to outliers and miscalibrated scale.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matrix_distance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S_pred − S_real ‖_F / N,   S_ij = cos(Δ_i, Δ_j)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880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distance between perturbation-similarity matrices. Captures global geometry of the perturbation landscape.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pathway_nes_spearman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Spearman( NES_real, NES_pred ) via GSEA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3474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Pathway-level enrichment correlation. Robust to gene-level noise; most biologically meaningful aggregation.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pathway_topk_jaccard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|P_real,K ∩ P_pred,K| / |P_real,K ∪ P_pred,K|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overlap of top-K enriched pathways. Mirrors how pathway results are reported in papers.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construction for WMSE and weighted_R²(Δ): </a:t>
            </a: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per-perturbation t-scores vs. </a:t>
            </a: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perturbed cells </a:t>
            </a: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control) → |t| → min-max normalize → square → normalize to Σ = 1. The "vs Rest" reference is what makes the metric robust to control bias.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scPerturbEval · appendix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/ A3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1957</Words>
  <Application>Microsoft Macintosh PowerPoint</Application>
  <PresentationFormat>On-screen Show (16:9)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scPerturbEval</dc:title>
  <dc:subject>PptxGenJS Presentation</dc:subject>
  <dc:creator>Course Presentation</dc:creator>
  <cp:lastModifiedBy>Nainika Gupta</cp:lastModifiedBy>
  <cp:revision>20</cp:revision>
  <dcterms:created xsi:type="dcterms:W3CDTF">2026-05-19T02:56:46Z</dcterms:created>
  <dcterms:modified xsi:type="dcterms:W3CDTF">2026-05-19T04:21:17Z</dcterms:modified>
</cp:coreProperties>
</file>